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876800"/>
            <a:ext cx="7620000" cy="914400"/>
          </a:xfrm>
        </p:spPr>
        <p:txBody>
          <a:bodyPr/>
          <a:lstStyle/>
          <a:p>
            <a:r>
              <a:rPr lang="en-US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itchFamily="34" charset="0"/>
              </a:rPr>
              <a:t>Moksha</a:t>
            </a:r>
            <a:endParaRPr lang="en-IN" sz="4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533400"/>
            <a:ext cx="4190912" cy="419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80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996600"/>
                </a:solidFill>
                <a:latin typeface="Copperplate Gothic Bold" pitchFamily="34" charset="0"/>
              </a:rPr>
              <a:t>Memory Safety</a:t>
            </a:r>
            <a:endParaRPr lang="en-IN" dirty="0">
              <a:solidFill>
                <a:srgbClr val="996600"/>
              </a:solidFill>
              <a:latin typeface="Copperplate Gothic Bold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598684"/>
              </p:ext>
            </p:extLst>
          </p:nvPr>
        </p:nvGraphicFramePr>
        <p:xfrm>
          <a:off x="457200" y="1600200"/>
          <a:ext cx="8229600" cy="47126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8600"/>
                <a:gridCol w="4191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Arial Rounded MT Bold" pitchFamily="34" charset="0"/>
                        </a:rPr>
                        <a:t>Borrow Checker</a:t>
                      </a:r>
                      <a:endParaRPr lang="en-IN" sz="2000" b="1" dirty="0">
                        <a:latin typeface="Arial Rounded MT Bol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Arial Rounded MT Bold" pitchFamily="34" charset="0"/>
                        </a:rPr>
                        <a:t>Automatic Reference Counting</a:t>
                      </a:r>
                      <a:endParaRPr lang="en-IN" sz="2000" b="1" dirty="0">
                        <a:latin typeface="Arial Rounded MT Bold" pitchFamily="34" charset="0"/>
                      </a:endParaRPr>
                    </a:p>
                  </a:txBody>
                  <a:tcPr anchor="ctr"/>
                </a:tc>
              </a:tr>
              <a:tr h="4255477">
                <a:tc>
                  <a:txBody>
                    <a:bodyPr/>
                    <a:lstStyle/>
                    <a:p>
                      <a:endParaRPr lang="en-US" sz="2400" dirty="0" smtClean="0"/>
                    </a:p>
                    <a:p>
                      <a:r>
                        <a:rPr lang="en-US" sz="2400" dirty="0" smtClean="0"/>
                        <a:t>For stack lifetimes :- </a:t>
                      </a:r>
                    </a:p>
                    <a:p>
                      <a:endParaRPr lang="en-US" sz="240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Variables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“class”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Pointers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References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dirty="0" smtClean="0"/>
                        <a:t>Fixed-Size Arrays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 smtClean="0"/>
                    </a:p>
                    <a:p>
                      <a:r>
                        <a:rPr lang="en-US" sz="2400" dirty="0" smtClean="0"/>
                        <a:t>For heap lifetimes</a:t>
                      </a:r>
                      <a:r>
                        <a:rPr lang="en-US" sz="2400" baseline="0" dirty="0" smtClean="0"/>
                        <a:t> :-</a:t>
                      </a:r>
                    </a:p>
                    <a:p>
                      <a:endParaRPr lang="en-US" sz="2400" baseline="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baseline="0" dirty="0" smtClean="0"/>
                        <a:t>Closures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baseline="0" dirty="0" smtClean="0"/>
                        <a:t>“ref classes”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baseline="0" dirty="0" smtClean="0"/>
                        <a:t>Dynamic-sized Arrays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baseline="0" dirty="0" smtClean="0"/>
                        <a:t>Strings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baseline="0" dirty="0" smtClean="0"/>
                        <a:t>“any” type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2400" baseline="0" dirty="0" smtClean="0"/>
                        <a:t>Promises</a:t>
                      </a:r>
                      <a:endParaRPr lang="en-IN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54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996600"/>
                </a:solidFill>
                <a:latin typeface="Copperplate Gothic Bold" pitchFamily="34" charset="0"/>
              </a:rPr>
              <a:t>Granular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mut</a:t>
            </a:r>
            <a:r>
              <a:rPr lang="en-US" sz="2400" dirty="0"/>
              <a:t> for exclusive write </a:t>
            </a:r>
            <a:r>
              <a:rPr lang="en-US" sz="2400" dirty="0" smtClean="0"/>
              <a:t>access</a:t>
            </a:r>
            <a:r>
              <a:rPr lang="en-US" sz="2400" dirty="0"/>
              <a:t>.</a:t>
            </a:r>
            <a:endParaRPr lang="en-US" sz="2400" dirty="0" smtClean="0"/>
          </a:p>
          <a:p>
            <a:r>
              <a:rPr lang="en-US" sz="2400" b="1" dirty="0" smtClean="0"/>
              <a:t>view</a:t>
            </a:r>
            <a:r>
              <a:rPr lang="en-US" sz="2400" dirty="0" smtClean="0"/>
              <a:t> </a:t>
            </a:r>
            <a:r>
              <a:rPr lang="en-US" sz="2400" dirty="0"/>
              <a:t>for read-only </a:t>
            </a:r>
            <a:r>
              <a:rPr lang="en-US" sz="2400" dirty="0" smtClean="0"/>
              <a:t>snapshots.</a:t>
            </a:r>
          </a:p>
          <a:p>
            <a:r>
              <a:rPr lang="en-US" sz="2400" b="1" dirty="0" smtClean="0"/>
              <a:t>lock</a:t>
            </a:r>
            <a:r>
              <a:rPr lang="en-US" sz="2400" dirty="0" smtClean="0"/>
              <a:t> </a:t>
            </a:r>
            <a:r>
              <a:rPr lang="en-US" sz="2400" dirty="0"/>
              <a:t>for </a:t>
            </a:r>
            <a:r>
              <a:rPr lang="en-US" sz="2400" dirty="0" smtClean="0"/>
              <a:t>thread-synchronized </a:t>
            </a:r>
            <a:r>
              <a:rPr lang="en-US" sz="2400" dirty="0"/>
              <a:t>shared </a:t>
            </a:r>
            <a:r>
              <a:rPr lang="en-US" sz="2400" dirty="0" smtClean="0"/>
              <a:t>state. You can access lock variables within a </a:t>
            </a:r>
            <a:r>
              <a:rPr lang="en-US" sz="2400" b="1" dirty="0" smtClean="0"/>
              <a:t>lock() { … }</a:t>
            </a:r>
            <a:r>
              <a:rPr lang="en-US" sz="2400" dirty="0" smtClean="0"/>
              <a:t> block.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4049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8382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996600"/>
                </a:solidFill>
                <a:latin typeface="Copperplate Gothic Bold" pitchFamily="34" charset="0"/>
              </a:rPr>
              <a:t>FFI &amp; Bare-Metal </a:t>
            </a:r>
            <a:r>
              <a:rPr lang="en-IN" sz="4000" dirty="0" err="1">
                <a:solidFill>
                  <a:srgbClr val="996600"/>
                </a:solidFill>
                <a:latin typeface="Copperplate Gothic Bold" pitchFamily="34" charset="0"/>
              </a:rPr>
              <a:t>Interop</a:t>
            </a:r>
            <a:endParaRPr lang="en-IN" sz="4000" dirty="0">
              <a:solidFill>
                <a:srgbClr val="996600"/>
              </a:solidFill>
              <a:latin typeface="Copperplate Gothic Bold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16" y="2133600"/>
            <a:ext cx="7041967" cy="3992563"/>
          </a:xfrm>
        </p:spPr>
      </p:pic>
    </p:spTree>
    <p:extLst>
      <p:ext uri="{BB962C8B-B14F-4D97-AF65-F5344CB8AC3E}">
        <p14:creationId xmlns:p14="http://schemas.microsoft.com/office/powerpoint/2010/main" val="99010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 err="1" smtClean="0">
                <a:solidFill>
                  <a:srgbClr val="996600"/>
                </a:solidFill>
                <a:latin typeface="Copperplate Gothic Bold" pitchFamily="34" charset="0"/>
              </a:rPr>
              <a:t>L’Architecture</a:t>
            </a:r>
            <a:endParaRPr lang="en-IN" sz="4000" dirty="0">
              <a:solidFill>
                <a:srgbClr val="996600"/>
              </a:solidFill>
              <a:latin typeface="Copperplate Gothic Bold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295400"/>
            <a:ext cx="3581400" cy="5257800"/>
          </a:xfrm>
        </p:spPr>
      </p:pic>
    </p:spTree>
    <p:extLst>
      <p:ext uri="{BB962C8B-B14F-4D97-AF65-F5344CB8AC3E}">
        <p14:creationId xmlns:p14="http://schemas.microsoft.com/office/powerpoint/2010/main" val="169753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996600"/>
                </a:solidFill>
                <a:latin typeface="Copperplate Gothic Bold" pitchFamily="34" charset="0"/>
              </a:rPr>
              <a:t>Ergonomics</a:t>
            </a:r>
            <a:endParaRPr lang="en-IN" sz="4000" dirty="0">
              <a:solidFill>
                <a:srgbClr val="996600"/>
              </a:solidFill>
              <a:latin typeface="Copperplate Gothic Bold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Pipe Operator ( </a:t>
            </a:r>
            <a:r>
              <a:rPr lang="en-US" sz="2400" b="1" dirty="0" smtClean="0"/>
              <a:t>|&gt;</a:t>
            </a:r>
            <a:r>
              <a:rPr lang="en-US" sz="2400" dirty="0" smtClean="0"/>
              <a:t> )</a:t>
            </a:r>
          </a:p>
          <a:p>
            <a:r>
              <a:rPr lang="en-IN" sz="2400" dirty="0"/>
              <a:t>Null </a:t>
            </a:r>
            <a:r>
              <a:rPr lang="en-IN" sz="2400" dirty="0" smtClean="0"/>
              <a:t>Safety : </a:t>
            </a:r>
            <a:r>
              <a:rPr lang="en-US" sz="2400" dirty="0"/>
              <a:t>Safe chaining (</a:t>
            </a:r>
            <a:r>
              <a:rPr lang="en-US" sz="2400" b="1" dirty="0"/>
              <a:t>?.</a:t>
            </a:r>
            <a:r>
              <a:rPr lang="en-US" sz="2400" dirty="0"/>
              <a:t>), indexing (</a:t>
            </a:r>
            <a:r>
              <a:rPr lang="en-US" sz="2400" b="1" dirty="0"/>
              <a:t>?[</a:t>
            </a:r>
            <a:r>
              <a:rPr lang="en-US" sz="2400" dirty="0"/>
              <a:t>), and coalescing (</a:t>
            </a:r>
            <a:r>
              <a:rPr lang="en-US" sz="2400" b="1" dirty="0"/>
              <a:t>??</a:t>
            </a:r>
            <a:r>
              <a:rPr lang="en-US" sz="2400" dirty="0"/>
              <a:t>). </a:t>
            </a:r>
            <a:endParaRPr lang="en-US" sz="2400" dirty="0" smtClean="0"/>
          </a:p>
          <a:p>
            <a:r>
              <a:rPr lang="en-IN" sz="2400" dirty="0" smtClean="0"/>
              <a:t>Interpolation ( </a:t>
            </a:r>
            <a:r>
              <a:rPr lang="en-IN" sz="2400" b="1" dirty="0" smtClean="0"/>
              <a:t>`  ${}` </a:t>
            </a:r>
            <a:r>
              <a:rPr lang="en-IN" sz="2400" dirty="0" smtClean="0"/>
              <a:t>)</a:t>
            </a:r>
          </a:p>
          <a:p>
            <a:r>
              <a:rPr lang="en-US" sz="2400" dirty="0" smtClean="0"/>
              <a:t>Functional casts ( </a:t>
            </a:r>
            <a:r>
              <a:rPr lang="en-US" sz="2400" b="1" dirty="0" smtClean="0"/>
              <a:t>double()</a:t>
            </a:r>
            <a:r>
              <a:rPr lang="en-US" sz="2400" dirty="0" smtClean="0"/>
              <a:t> ) and cast operator ( </a:t>
            </a:r>
            <a:r>
              <a:rPr lang="en-IN" sz="2400" b="1" dirty="0" smtClean="0"/>
              <a:t>cast&lt;</a:t>
            </a:r>
            <a:r>
              <a:rPr lang="en-IN" sz="2400" b="1" dirty="0" err="1" smtClean="0"/>
              <a:t>int</a:t>
            </a:r>
            <a:r>
              <a:rPr lang="en-IN" sz="2400" b="1" dirty="0"/>
              <a:t>&gt;(3.14)</a:t>
            </a:r>
            <a:r>
              <a:rPr lang="en-US" sz="2400" b="1" dirty="0" smtClean="0"/>
              <a:t> </a:t>
            </a:r>
            <a:r>
              <a:rPr lang="en-US" sz="2400" dirty="0" smtClean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and all the necessary stuff 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 smtClean="0">
                <a:latin typeface="Algerian" pitchFamily="82" charset="0"/>
              </a:rPr>
              <a:t>Let’s Head on to basic program !</a:t>
            </a:r>
            <a:endParaRPr lang="en-IN" sz="2400" b="1" dirty="0"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3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126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Memory Safety</vt:lpstr>
      <vt:lpstr>Granular Pointers</vt:lpstr>
      <vt:lpstr>FFI &amp; Bare-Metal Interop</vt:lpstr>
      <vt:lpstr>L’Architecture</vt:lpstr>
      <vt:lpstr>Ergonomics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Swarup</dc:creator>
  <cp:lastModifiedBy>Swarup</cp:lastModifiedBy>
  <cp:revision>7</cp:revision>
  <dcterms:created xsi:type="dcterms:W3CDTF">2006-08-16T00:00:00Z</dcterms:created>
  <dcterms:modified xsi:type="dcterms:W3CDTF">2026-05-31T14:20:20Z</dcterms:modified>
</cp:coreProperties>
</file>